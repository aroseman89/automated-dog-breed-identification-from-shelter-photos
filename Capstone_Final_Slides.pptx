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rts/chart1.xml" ContentType="application/vnd.openxmlformats-officedocument.drawingml.chart+xml"/>
  <Override PartName="/ppt/notesSlides/notesSlide7.xml" ContentType="application/vnd.openxmlformats-officedocument.presentationml.notesSlide+xml"/>
  <Override PartName="/ppt/charts/chart2.xml" ContentType="application/vnd.openxmlformats-officedocument.drawingml.char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9" d="100"/>
          <a:sy n="89" d="100"/>
        </p:scale>
        <p:origin x="53" y="10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241512"/>
                </a:solidFill>
                <a:latin typeface="Arial"/>
              </a:defRPr>
            </a:pPr>
            <a:r>
              <a:rPr lang="en-US" sz="1300" b="0" i="0" u="none" strike="noStrike">
                <a:solidFill>
                  <a:srgbClr val="241512"/>
                </a:solidFill>
                <a:latin typeface="Arial"/>
              </a:rPr>
              <a:t>PetFinder breed-match coverage</a:t>
            </a:r>
          </a:p>
        </c:rich>
      </c:tx>
      <c:overlay val="0"/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PetFinder rows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D9633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0620-4A48-8F96-F9FDD939DA0B}"/>
              </c:ext>
            </c:extLst>
          </c:dPt>
          <c:dPt>
            <c:idx val="1"/>
            <c:bubble3D val="0"/>
            <c:spPr>
              <a:solidFill>
                <a:srgbClr val="6E8F73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0620-4A48-8F96-F9FDD939DA0B}"/>
              </c:ext>
            </c:extLst>
          </c:dPt>
          <c:cat>
            <c:strRef>
              <c:f>Sheet1!$A$2:$A$3</c:f>
              <c:strCache>
                <c:ptCount val="2"/>
                <c:pt idx="0">
                  <c:v>Matched (1,604)</c:v>
                </c:pt>
                <c:pt idx="1">
                  <c:v>No breed match (6,265)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1604</c:v>
                </c:pt>
                <c:pt idx="1">
                  <c:v>6265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0620-4A48-8F96-F9FDD939DA0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50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/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241512"/>
                </a:solidFill>
                <a:latin typeface="Arial"/>
              </a:defRPr>
            </a:pPr>
            <a:r>
              <a:rPr lang="en-US" sz="1300" b="0" i="0" u="none" strike="noStrike">
                <a:solidFill>
                  <a:srgbClr val="241512"/>
                </a:solidFill>
                <a:latin typeface="Arial"/>
              </a:rPr>
              <a:t>Stanford Dogs: images per breed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Min images/breed</c:v>
                </c:pt>
              </c:strCache>
            </c:strRef>
          </c:tx>
          <c:spPr>
            <a:solidFill>
              <a:srgbClr val="6E8F73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Sheet1!$A$2:$A$2</c:f>
              <c:strCache>
                <c:ptCount val="1"/>
                <c:pt idx="0">
                  <c:v>Stanford Dogs</c:v>
                </c:pt>
              </c:strCache>
            </c:strRef>
          </c:cat>
          <c:val>
            <c:numRef>
              <c:f>Sheet1!$B$2:$B$2</c:f>
              <c:numCache>
                <c:formatCode>General</c:formatCode>
                <c:ptCount val="1"/>
                <c:pt idx="0">
                  <c:v>143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7BD-47CC-B17C-2B96EA7E84AC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Max images/breed</c:v>
                </c:pt>
              </c:strCache>
            </c:strRef>
          </c:tx>
          <c:spPr>
            <a:solidFill>
              <a:srgbClr val="D9633B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Sheet1!$A$2:$A$2</c:f>
              <c:strCache>
                <c:ptCount val="1"/>
                <c:pt idx="0">
                  <c:v>Stanford Dogs</c:v>
                </c:pt>
              </c:strCache>
            </c:strRef>
          </c:cat>
          <c:val>
            <c:numRef>
              <c:f>Sheet1!$C$2:$C$2</c:f>
              <c:numCache>
                <c:formatCode>General</c:formatCode>
                <c:ptCount val="1"/>
                <c:pt idx="0">
                  <c:v>463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57BD-47CC-B17C-2B96EA7E84AC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/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544621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415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961120" y="-1828800"/>
            <a:ext cx="5943600" cy="5943600"/>
          </a:xfrm>
          <a:prstGeom prst="ellipse">
            <a:avLst/>
          </a:prstGeom>
          <a:solidFill>
            <a:srgbClr val="2E1D1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9966960" y="-365760"/>
            <a:ext cx="2377440" cy="2377440"/>
          </a:xfrm>
          <a:prstGeom prst="ellipse">
            <a:avLst/>
          </a:prstGeom>
          <a:solidFill>
            <a:srgbClr val="D963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822960" y="3977640"/>
            <a:ext cx="1188720" cy="82296"/>
          </a:xfrm>
          <a:prstGeom prst="rect">
            <a:avLst/>
          </a:prstGeom>
          <a:solidFill>
            <a:srgbClr val="D963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822960" y="2148840"/>
            <a:ext cx="98755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42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Automated Dog Breed Identification</a:t>
            </a:r>
            <a:endParaRPr lang="en-US" sz="3800" dirty="0"/>
          </a:p>
          <a:p>
            <a:pPr marL="0" indent="0">
              <a:lnSpc>
                <a:spcPts val="42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Shelter Photos</a:t>
            </a:r>
            <a:endParaRPr lang="en-US" sz="38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420624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E3C9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deep learning to support more consistent breed labeling in animal shelters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61264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C8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Science Career Track  —  Capstone 3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607040" y="5394960"/>
            <a:ext cx="3291840" cy="3291840"/>
          </a:xfrm>
          <a:prstGeom prst="ellipse">
            <a:avLst/>
          </a:prstGeom>
          <a:solidFill>
            <a:srgbClr val="F7F1E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11612880" y="4572000"/>
            <a:ext cx="1371600" cy="1371600"/>
          </a:xfrm>
          <a:prstGeom prst="ellipse">
            <a:avLst/>
          </a:prstGeom>
          <a:solidFill>
            <a:srgbClr val="D963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548640" y="502920"/>
            <a:ext cx="128016" cy="777240"/>
          </a:xfrm>
          <a:prstGeom prst="rect">
            <a:avLst/>
          </a:prstGeom>
          <a:solidFill>
            <a:srgbClr val="D963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822960" y="320040"/>
            <a:ext cx="106070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rgbClr val="2415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Breed Labels Are Guessed, Not Verified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822960" y="1965960"/>
            <a:ext cx="1920240" cy="1920240"/>
          </a:xfrm>
          <a:prstGeom prst="ellipse">
            <a:avLst/>
          </a:prstGeom>
          <a:solidFill>
            <a:srgbClr val="D963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 txBox="1"/>
          <p:nvPr/>
        </p:nvSpPr>
        <p:spPr>
          <a:xfrm>
            <a:off x="822960" y="1965960"/>
            <a:ext cx="19202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72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25%</a:t>
            </a:r>
            <a:endParaRPr lang="en-US" sz="6720" dirty="0"/>
          </a:p>
        </p:txBody>
      </p:sp>
      <p:sp>
        <p:nvSpPr>
          <p:cNvPr id="8" name="Text 6"/>
          <p:cNvSpPr txBox="1"/>
          <p:nvPr/>
        </p:nvSpPr>
        <p:spPr>
          <a:xfrm>
            <a:off x="502920" y="3977640"/>
            <a:ext cx="2606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6B5C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shelter staff visual breed calls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dirty="0">
                <a:solidFill>
                  <a:srgbClr val="6B5C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matched DNA-verified breed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dirty="0">
                <a:solidFill>
                  <a:srgbClr val="6B5C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(Voith et al., 2009)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657600" y="1828800"/>
            <a:ext cx="7863840" cy="4023360"/>
          </a:xfrm>
          <a:prstGeom prst="roundRect">
            <a:avLst>
              <a:gd name="adj" fmla="val 2045"/>
            </a:avLst>
          </a:prstGeom>
          <a:solidFill>
            <a:srgbClr val="F7F1EA"/>
          </a:solidFill>
          <a:ln/>
          <a:effectLst>
            <a:outerShdw blurRad="76200" dist="38100" dir="54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 txBox="1"/>
          <p:nvPr/>
        </p:nvSpPr>
        <p:spPr>
          <a:xfrm>
            <a:off x="4023360" y="2148840"/>
            <a:ext cx="713232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4000" indent="-254000">
              <a:spcAft>
                <a:spcPts val="1600"/>
              </a:spcAft>
              <a:buSzPct val="100000"/>
              <a:buChar char="▸"/>
            </a:pPr>
            <a:r>
              <a:rPr lang="en-US" sz="1550" dirty="0">
                <a:solidFill>
                  <a:srgbClr val="2415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Shelters assign breed labels visually at intake — known to be unreliable, especially for “bully”-type mixes</a:t>
            </a:r>
            <a:endParaRPr lang="en-US" sz="1550" dirty="0"/>
          </a:p>
          <a:p>
            <a:pPr marL="254000" indent="-254000">
              <a:spcAft>
                <a:spcPts val="1600"/>
              </a:spcAft>
              <a:buSzPct val="100000"/>
              <a:buChar char="▸"/>
            </a:pPr>
            <a:r>
              <a:rPr lang="en-US" sz="1550" dirty="0">
                <a:solidFill>
                  <a:srgbClr val="2415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Inaccurate labels drive real consequences: adoption outcomes, breed-restricted housing/insurance, and skewed bite-report demographics</a:t>
            </a:r>
            <a:endParaRPr lang="en-US" sz="1550" dirty="0"/>
          </a:p>
          <a:p>
            <a:pPr marL="254000" indent="-254000">
              <a:spcAft>
                <a:spcPts val="1600"/>
              </a:spcAft>
              <a:buSzPct val="100000"/>
              <a:buChar char="▸"/>
            </a:pPr>
            <a:r>
              <a:rPr lang="en-US" sz="1550" dirty="0">
                <a:solidFill>
                  <a:srgbClr val="2415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Goal: a trained image classifier as a consistent, evidence-informed second opinion — not a replacement for staff judgment</a:t>
            </a:r>
            <a:endParaRPr lang="en-US" sz="1550" dirty="0"/>
          </a:p>
        </p:txBody>
      </p:sp>
      <p:sp>
        <p:nvSpPr>
          <p:cNvPr id="11" name="Text 9"/>
          <p:cNvSpPr txBox="1"/>
          <p:nvPr/>
        </p:nvSpPr>
        <p:spPr>
          <a:xfrm>
            <a:off x="11521440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607040" y="5394960"/>
            <a:ext cx="3291840" cy="3291840"/>
          </a:xfrm>
          <a:prstGeom prst="ellipse">
            <a:avLst/>
          </a:prstGeom>
          <a:solidFill>
            <a:srgbClr val="F7F1E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11612880" y="4572000"/>
            <a:ext cx="1371600" cy="1371600"/>
          </a:xfrm>
          <a:prstGeom prst="ellipse">
            <a:avLst/>
          </a:prstGeom>
          <a:solidFill>
            <a:srgbClr val="D963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548640" y="502920"/>
            <a:ext cx="128016" cy="777240"/>
          </a:xfrm>
          <a:prstGeom prst="rect">
            <a:avLst/>
          </a:prstGeom>
          <a:solidFill>
            <a:srgbClr val="D963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822960" y="320040"/>
            <a:ext cx="106070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rgbClr val="2415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Success Criteria, Stakeholders &amp; Constraints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640080" y="1828800"/>
            <a:ext cx="3520440" cy="3429000"/>
          </a:xfrm>
          <a:prstGeom prst="roundRect">
            <a:avLst>
              <a:gd name="adj" fmla="val 2400"/>
            </a:avLst>
          </a:prstGeom>
          <a:solidFill>
            <a:srgbClr val="F7F1EA"/>
          </a:solidFill>
          <a:ln/>
          <a:effectLst>
            <a:outerShdw blurRad="76200" dist="38100" dir="54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640080" y="1828800"/>
            <a:ext cx="3520440" cy="566928"/>
          </a:xfrm>
          <a:prstGeom prst="rect">
            <a:avLst/>
          </a:prstGeom>
          <a:solidFill>
            <a:srgbClr val="D963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 txBox="1"/>
          <p:nvPr/>
        </p:nvSpPr>
        <p:spPr>
          <a:xfrm>
            <a:off x="640080" y="1828800"/>
            <a:ext cx="3520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Success Criteria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914400" y="2697480"/>
            <a:ext cx="29718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4000" indent="-254000">
              <a:spcAft>
                <a:spcPts val="1400"/>
              </a:spcAft>
              <a:buSzPct val="100000"/>
              <a:buChar char="▸"/>
            </a:pPr>
            <a:r>
              <a:rPr lang="en-US" sz="1350" dirty="0">
                <a:solidFill>
                  <a:srgbClr val="2415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≥70% top-1 accuracy</a:t>
            </a:r>
            <a:endParaRPr lang="en-US" sz="1350" dirty="0"/>
          </a:p>
          <a:p>
            <a:pPr marL="254000" indent="-254000">
              <a:spcAft>
                <a:spcPts val="1400"/>
              </a:spcAft>
              <a:buSzPct val="100000"/>
              <a:buChar char="▸"/>
            </a:pPr>
            <a:r>
              <a:rPr lang="en-US" sz="1350" dirty="0">
                <a:solidFill>
                  <a:srgbClr val="2415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≥90% top-5 accuracy</a:t>
            </a:r>
            <a:endParaRPr lang="en-US" sz="1350" dirty="0"/>
          </a:p>
          <a:p>
            <a:pPr marL="254000" indent="-254000">
              <a:spcAft>
                <a:spcPts val="1400"/>
              </a:spcAft>
              <a:buSzPct val="100000"/>
              <a:buChar char="▸"/>
            </a:pPr>
            <a:r>
              <a:rPr lang="en-US" sz="1350" dirty="0">
                <a:solidFill>
                  <a:srgbClr val="2415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(Stanford Dogs test set)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4434840" y="1828800"/>
            <a:ext cx="3520440" cy="3429000"/>
          </a:xfrm>
          <a:prstGeom prst="roundRect">
            <a:avLst>
              <a:gd name="adj" fmla="val 2400"/>
            </a:avLst>
          </a:prstGeom>
          <a:solidFill>
            <a:srgbClr val="F7F1EA"/>
          </a:solidFill>
          <a:ln/>
          <a:effectLst>
            <a:outerShdw blurRad="76200" dist="38100" dir="54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4434840" y="1828800"/>
            <a:ext cx="3520440" cy="566928"/>
          </a:xfrm>
          <a:prstGeom prst="rect">
            <a:avLst/>
          </a:prstGeom>
          <a:solidFill>
            <a:srgbClr val="6E8F7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 txBox="1"/>
          <p:nvPr/>
        </p:nvSpPr>
        <p:spPr>
          <a:xfrm>
            <a:off x="4434840" y="1828800"/>
            <a:ext cx="3520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Stakeholders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4709160" y="2697480"/>
            <a:ext cx="29718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4000" indent="-254000">
              <a:spcAft>
                <a:spcPts val="1400"/>
              </a:spcAft>
              <a:buSzPct val="100000"/>
              <a:buChar char="▸"/>
            </a:pPr>
            <a:r>
              <a:rPr lang="en-US" sz="1350" dirty="0">
                <a:solidFill>
                  <a:srgbClr val="2415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Shelter operations manager (client)</a:t>
            </a:r>
            <a:endParaRPr lang="en-US" sz="1350" dirty="0"/>
          </a:p>
          <a:p>
            <a:pPr marL="254000" indent="-254000">
              <a:spcAft>
                <a:spcPts val="1400"/>
              </a:spcAft>
              <a:buSzPct val="100000"/>
              <a:buChar char="▸"/>
            </a:pPr>
            <a:r>
              <a:rPr lang="en-US" sz="1350" dirty="0">
                <a:solidFill>
                  <a:srgbClr val="2415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Behaviorist / animal control officer (consult)</a:t>
            </a:r>
            <a:endParaRPr lang="en-US" sz="1350" dirty="0"/>
          </a:p>
          <a:p>
            <a:pPr marL="254000" indent="-254000">
              <a:spcAft>
                <a:spcPts val="1400"/>
              </a:spcAft>
              <a:buSzPct val="100000"/>
              <a:buChar char="▸"/>
            </a:pPr>
            <a:r>
              <a:rPr lang="en-US" sz="1350" dirty="0">
                <a:solidFill>
                  <a:srgbClr val="2415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dogs — ultimate beneficiaries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8229600" y="1828800"/>
            <a:ext cx="3520440" cy="3429000"/>
          </a:xfrm>
          <a:prstGeom prst="roundRect">
            <a:avLst>
              <a:gd name="adj" fmla="val 2400"/>
            </a:avLst>
          </a:prstGeom>
          <a:solidFill>
            <a:srgbClr val="F7F1EA"/>
          </a:solidFill>
          <a:ln/>
          <a:effectLst>
            <a:outerShdw blurRad="76200" dist="38100" dir="54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8229600" y="1828800"/>
            <a:ext cx="3520440" cy="566928"/>
          </a:xfrm>
          <a:prstGeom prst="rect">
            <a:avLst/>
          </a:prstGeom>
          <a:solidFill>
            <a:srgbClr val="A845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 txBox="1"/>
          <p:nvPr/>
        </p:nvSpPr>
        <p:spPr>
          <a:xfrm>
            <a:off x="8229600" y="1828800"/>
            <a:ext cx="3520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Constraints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8503920" y="2697480"/>
            <a:ext cx="29718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4000" indent="-254000">
              <a:spcAft>
                <a:spcPts val="1400"/>
              </a:spcAft>
              <a:buSzPct val="100000"/>
              <a:buChar char="▸"/>
            </a:pPr>
            <a:r>
              <a:rPr lang="en-US" sz="1350" dirty="0">
                <a:solidFill>
                  <a:srgbClr val="2415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Staged vs. real-photo domain shift</a:t>
            </a:r>
            <a:endParaRPr lang="en-US" sz="1350" dirty="0"/>
          </a:p>
          <a:p>
            <a:pPr marL="254000" indent="-254000">
              <a:spcAft>
                <a:spcPts val="1400"/>
              </a:spcAft>
              <a:buSzPct val="100000"/>
              <a:buChar char="▸"/>
            </a:pPr>
            <a:r>
              <a:rPr lang="en-US" sz="1350" dirty="0">
                <a:solidFill>
                  <a:srgbClr val="2415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DNA-verified ground truth</a:t>
            </a:r>
            <a:endParaRPr lang="en-US" sz="1350" dirty="0"/>
          </a:p>
          <a:p>
            <a:pPr marL="254000" indent="-254000">
              <a:spcAft>
                <a:spcPts val="1400"/>
              </a:spcAft>
              <a:buSzPct val="100000"/>
              <a:buChar char="▸"/>
            </a:pPr>
            <a:r>
              <a:rPr lang="en-US" sz="1350" dirty="0">
                <a:solidFill>
                  <a:srgbClr val="2415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Politically sensitive to automate fully</a:t>
            </a:r>
            <a:endParaRPr lang="en-US" sz="1350" dirty="0"/>
          </a:p>
        </p:txBody>
      </p:sp>
      <p:sp>
        <p:nvSpPr>
          <p:cNvPr id="18" name="Text 16"/>
          <p:cNvSpPr txBox="1"/>
          <p:nvPr/>
        </p:nvSpPr>
        <p:spPr>
          <a:xfrm>
            <a:off x="11521440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607040" y="5394960"/>
            <a:ext cx="3291840" cy="3291840"/>
          </a:xfrm>
          <a:prstGeom prst="ellipse">
            <a:avLst/>
          </a:prstGeom>
          <a:solidFill>
            <a:srgbClr val="F7F1E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11612880" y="4572000"/>
            <a:ext cx="1371600" cy="1371600"/>
          </a:xfrm>
          <a:prstGeom prst="ellipse">
            <a:avLst/>
          </a:prstGeom>
          <a:solidFill>
            <a:srgbClr val="D963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548640" y="502920"/>
            <a:ext cx="128016" cy="777240"/>
          </a:xfrm>
          <a:prstGeom prst="rect">
            <a:avLst/>
          </a:prstGeom>
          <a:solidFill>
            <a:srgbClr val="D963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822960" y="320040"/>
            <a:ext cx="106070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rgbClr val="2415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Multi-Class Image Classification Problem</a:t>
            </a:r>
            <a:endParaRPr 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1691640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D96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Target: breed label — 115 classes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40080" y="2331720"/>
            <a:ext cx="3520440" cy="3063240"/>
          </a:xfrm>
          <a:prstGeom prst="roundRect">
            <a:avLst>
              <a:gd name="adj" fmla="val 2687"/>
            </a:avLst>
          </a:prstGeom>
          <a:solidFill>
            <a:srgbClr val="FFFFFF"/>
          </a:solidFill>
          <a:ln w="22225">
            <a:solidFill>
              <a:srgbClr val="D9633B"/>
            </a:solidFill>
            <a:prstDash val="solid"/>
          </a:ln>
          <a:effectLst>
            <a:outerShdw blurRad="76200" dist="38100" dir="54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914400" y="2560320"/>
            <a:ext cx="502920" cy="91440"/>
          </a:xfrm>
          <a:prstGeom prst="rect">
            <a:avLst/>
          </a:prstGeom>
          <a:solidFill>
            <a:srgbClr val="D963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 txBox="1"/>
          <p:nvPr/>
        </p:nvSpPr>
        <p:spPr>
          <a:xfrm>
            <a:off x="914400" y="2743200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415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Stanford Dogs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914400" y="333756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5C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+ test set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914400" y="425196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i="1" dirty="0">
                <a:solidFill>
                  <a:srgbClr val="D96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20,486 images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4434840" y="2331720"/>
            <a:ext cx="3520440" cy="3063240"/>
          </a:xfrm>
          <a:prstGeom prst="roundRect">
            <a:avLst>
              <a:gd name="adj" fmla="val 2687"/>
            </a:avLst>
          </a:prstGeom>
          <a:solidFill>
            <a:srgbClr val="FFFFFF"/>
          </a:solidFill>
          <a:ln w="22225">
            <a:solidFill>
              <a:srgbClr val="6E8F73"/>
            </a:solidFill>
            <a:prstDash val="solid"/>
          </a:ln>
          <a:effectLst>
            <a:outerShdw blurRad="76200" dist="38100" dir="54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4709160" y="2560320"/>
            <a:ext cx="502920" cy="91440"/>
          </a:xfrm>
          <a:prstGeom prst="rect">
            <a:avLst/>
          </a:prstGeom>
          <a:solidFill>
            <a:srgbClr val="6E8F7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 txBox="1"/>
          <p:nvPr/>
        </p:nvSpPr>
        <p:spPr>
          <a:xfrm>
            <a:off x="4709160" y="2743200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415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PetFinder.my</a:t>
            </a:r>
            <a:endParaRPr lang="en-US" sz="1700" dirty="0"/>
          </a:p>
        </p:txBody>
      </p:sp>
      <p:sp>
        <p:nvSpPr>
          <p:cNvPr id="15" name="Text 13"/>
          <p:cNvSpPr txBox="1"/>
          <p:nvPr/>
        </p:nvSpPr>
        <p:spPr>
          <a:xfrm>
            <a:off x="4709160" y="333756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5C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Real-world validation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4709160" y="425196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i="1" dirty="0">
                <a:solidFill>
                  <a:srgbClr val="6E8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1,604 matched photos</a:t>
            </a:r>
            <a:endParaRPr lang="en-US" sz="1450" dirty="0"/>
          </a:p>
        </p:txBody>
      </p:sp>
      <p:sp>
        <p:nvSpPr>
          <p:cNvPr id="17" name="Shape 15"/>
          <p:cNvSpPr/>
          <p:nvPr/>
        </p:nvSpPr>
        <p:spPr>
          <a:xfrm>
            <a:off x="8229600" y="2331720"/>
            <a:ext cx="3520440" cy="3063240"/>
          </a:xfrm>
          <a:prstGeom prst="roundRect">
            <a:avLst>
              <a:gd name="adj" fmla="val 2687"/>
            </a:avLst>
          </a:prstGeom>
          <a:solidFill>
            <a:srgbClr val="FFFFFF"/>
          </a:solidFill>
          <a:ln w="22225">
            <a:solidFill>
              <a:srgbClr val="A8452A"/>
            </a:solidFill>
            <a:prstDash val="solid"/>
          </a:ln>
          <a:effectLst>
            <a:outerShdw blurRad="76200" dist="38100" dir="54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8503920" y="2560320"/>
            <a:ext cx="502920" cy="91440"/>
          </a:xfrm>
          <a:prstGeom prst="rect">
            <a:avLst/>
          </a:prstGeom>
          <a:solidFill>
            <a:srgbClr val="A845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 txBox="1"/>
          <p:nvPr/>
        </p:nvSpPr>
        <p:spPr>
          <a:xfrm>
            <a:off x="8503920" y="2743200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415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Austin Animal Center</a:t>
            </a:r>
            <a:endParaRPr lang="en-US" sz="1700" dirty="0"/>
          </a:p>
        </p:txBody>
      </p:sp>
      <p:sp>
        <p:nvSpPr>
          <p:cNvPr id="20" name="Text 18"/>
          <p:cNvSpPr txBox="1"/>
          <p:nvPr/>
        </p:nvSpPr>
        <p:spPr>
          <a:xfrm>
            <a:off x="8503920" y="333756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5C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Real-world context (no images)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8503920" y="425196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i="1" dirty="0">
                <a:solidFill>
                  <a:srgbClr val="A845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outcomes data</a:t>
            </a:r>
            <a:endParaRPr lang="en-US" sz="1450" dirty="0"/>
          </a:p>
        </p:txBody>
      </p:sp>
      <p:sp>
        <p:nvSpPr>
          <p:cNvPr id="22" name="Text 20"/>
          <p:cNvSpPr txBox="1"/>
          <p:nvPr/>
        </p:nvSpPr>
        <p:spPr>
          <a:xfrm>
            <a:off x="11521440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607040" y="5394960"/>
            <a:ext cx="3291840" cy="3291840"/>
          </a:xfrm>
          <a:prstGeom prst="ellipse">
            <a:avLst/>
          </a:prstGeom>
          <a:solidFill>
            <a:srgbClr val="F7F1E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11612880" y="4572000"/>
            <a:ext cx="1371600" cy="1371600"/>
          </a:xfrm>
          <a:prstGeom prst="ellipse">
            <a:avLst/>
          </a:prstGeom>
          <a:solidFill>
            <a:srgbClr val="D963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548640" y="502920"/>
            <a:ext cx="128016" cy="777240"/>
          </a:xfrm>
          <a:prstGeom prst="rect">
            <a:avLst/>
          </a:prstGeom>
          <a:solidFill>
            <a:srgbClr val="D963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822960" y="320040"/>
            <a:ext cx="106070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rgbClr val="2415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Wrangling: Raw Files to Model-Ready Data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640080" y="1828800"/>
            <a:ext cx="10881360" cy="4023360"/>
          </a:xfrm>
          <a:prstGeom prst="roundRect">
            <a:avLst>
              <a:gd name="adj" fmla="val 2045"/>
            </a:avLst>
          </a:prstGeom>
          <a:solidFill>
            <a:srgbClr val="F7F1EA"/>
          </a:solidFill>
          <a:ln/>
          <a:effectLst>
            <a:outerShdw blurRad="76200" dist="38100" dir="54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 txBox="1"/>
          <p:nvPr/>
        </p:nvSpPr>
        <p:spPr>
          <a:xfrm>
            <a:off x="1005840" y="2148840"/>
            <a:ext cx="1014984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4000" indent="-254000">
              <a:spcAft>
                <a:spcPts val="1800"/>
              </a:spcAft>
              <a:buSzPct val="100000"/>
              <a:buChar char="▸"/>
            </a:pPr>
            <a:r>
              <a:rPr lang="en-US" sz="1700" dirty="0">
                <a:solidFill>
                  <a:srgbClr val="2415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Corrupt / unreadable file detection and exact-duplicate removal (MD5 hash)</a:t>
            </a:r>
            <a:endParaRPr lang="en-US" sz="1700" dirty="0"/>
          </a:p>
          <a:p>
            <a:pPr marL="254000" indent="-254000">
              <a:spcAft>
                <a:spcPts val="1800"/>
              </a:spcAft>
              <a:buSzPct val="100000"/>
              <a:buChar char="▸"/>
            </a:pPr>
            <a:r>
              <a:rPr lang="en-US" sz="1700" dirty="0">
                <a:solidFill>
                  <a:srgbClr val="2415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Non-RGB images normalized; bounding-box crop applied where Stanford Dogs annotations exist</a:t>
            </a:r>
            <a:endParaRPr lang="en-US" sz="1700" dirty="0"/>
          </a:p>
          <a:p>
            <a:pPr marL="254000" indent="-254000">
              <a:spcAft>
                <a:spcPts val="1800"/>
              </a:spcAft>
              <a:buSzPct val="100000"/>
              <a:buChar char="▸"/>
            </a:pPr>
            <a:r>
              <a:rPr lang="en-US" sz="1700" dirty="0">
                <a:solidFill>
                  <a:srgbClr val="2415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images resized to 224×224 and normalized to match the pretrained model's expected input</a:t>
            </a:r>
            <a:endParaRPr lang="en-US" sz="1700" dirty="0"/>
          </a:p>
          <a:p>
            <a:pPr marL="254000" indent="-254000">
              <a:spcAft>
                <a:spcPts val="1800"/>
              </a:spcAft>
              <a:buSzPct val="100000"/>
              <a:buChar char="▸"/>
            </a:pPr>
            <a:r>
              <a:rPr lang="en-US" sz="1700" dirty="0">
                <a:solidFill>
                  <a:srgbClr val="2415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Aspect-ratio outliers dropped; brightness outliers flagged for awareness</a:t>
            </a:r>
            <a:endParaRPr lang="en-US" sz="1700" dirty="0"/>
          </a:p>
          <a:p>
            <a:pPr marL="254000" indent="-254000">
              <a:spcAft>
                <a:spcPts val="1800"/>
              </a:spcAft>
              <a:buSzPct val="100000"/>
              <a:buChar char="▸"/>
            </a:pPr>
            <a:r>
              <a:rPr lang="en-US" sz="1700" dirty="0">
                <a:solidFill>
                  <a:srgbClr val="2415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imbalance checked before splitting — informed the stratified train/val/test split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11521440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607040" y="5394960"/>
            <a:ext cx="3291840" cy="3291840"/>
          </a:xfrm>
          <a:prstGeom prst="ellipse">
            <a:avLst/>
          </a:prstGeom>
          <a:solidFill>
            <a:srgbClr val="F7F1E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11612880" y="4572000"/>
            <a:ext cx="1371600" cy="1371600"/>
          </a:xfrm>
          <a:prstGeom prst="ellipse">
            <a:avLst/>
          </a:prstGeom>
          <a:solidFill>
            <a:srgbClr val="D963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548640" y="502920"/>
            <a:ext cx="128016" cy="777240"/>
          </a:xfrm>
          <a:prstGeom prst="rect">
            <a:avLst/>
          </a:prstGeom>
          <a:solidFill>
            <a:srgbClr val="D963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822960" y="320040"/>
            <a:ext cx="106070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rgbClr val="2415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Breed Vocabularies, One Matching Pipeline</a:t>
            </a:r>
            <a:endParaRPr 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1691640"/>
            <a:ext cx="10424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6B5C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Stanford Dogs uses decade-old ImageNet naming; PetFinder uses everyday breed names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40080" y="2240280"/>
            <a:ext cx="5486400" cy="1051560"/>
          </a:xfrm>
          <a:prstGeom prst="roundRect">
            <a:avLst>
              <a:gd name="adj" fmla="val 7826"/>
            </a:avLst>
          </a:prstGeom>
          <a:solidFill>
            <a:srgbClr val="D9633B"/>
          </a:solidFill>
          <a:ln/>
          <a:effectLst>
            <a:outerShdw blurRad="76200" dist="38100" dir="54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 txBox="1"/>
          <p:nvPr/>
        </p:nvSpPr>
        <p:spPr>
          <a:xfrm>
            <a:off x="822960" y="2468880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“Boston Bull”  =  “Boston Terrier”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3566160"/>
            <a:ext cx="54864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4000" indent="-254000">
              <a:spcAft>
                <a:spcPts val="1600"/>
              </a:spcAft>
              <a:buSzPct val="100000"/>
              <a:buChar char="▸"/>
            </a:pPr>
            <a:r>
              <a:rPr lang="en-US" sz="1400" dirty="0">
                <a:solidFill>
                  <a:srgbClr val="2415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3-layer pipeline: exact match → known-synonym lookup → token-subset matching (e.g. “Maltese” → “Maltese Dog”)</a:t>
            </a:r>
            <a:endParaRPr lang="en-US" sz="1400" dirty="0"/>
          </a:p>
          <a:p>
            <a:pPr marL="254000" indent="-254000">
              <a:spcAft>
                <a:spcPts val="1600"/>
              </a:spcAft>
              <a:buSzPct val="100000"/>
              <a:buChar char="▸"/>
            </a:pPr>
            <a:r>
              <a:rPr lang="en-US" sz="1400" dirty="0">
                <a:solidFill>
                  <a:srgbClr val="2415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unmatched rows are “Mixed Breed” listings — expected, not a data error</a:t>
            </a:r>
            <a:endParaRPr lang="en-US" sz="1400" dirty="0"/>
          </a:p>
        </p:txBody>
      </p:sp>
      <p:graphicFrame>
        <p:nvGraphicFramePr>
          <p:cNvPr id="10" name="Chart 0"/>
          <p:cNvGraphicFramePr/>
          <p:nvPr/>
        </p:nvGraphicFramePr>
        <p:xfrm>
          <a:off x="6492240" y="2103120"/>
          <a:ext cx="4846320" cy="39319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1" name="Text 8"/>
          <p:cNvSpPr txBox="1"/>
          <p:nvPr/>
        </p:nvSpPr>
        <p:spPr>
          <a:xfrm>
            <a:off x="11521440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607040" y="5394960"/>
            <a:ext cx="3291840" cy="3291840"/>
          </a:xfrm>
          <a:prstGeom prst="ellipse">
            <a:avLst/>
          </a:prstGeom>
          <a:solidFill>
            <a:srgbClr val="F7F1E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11612880" y="4572000"/>
            <a:ext cx="1371600" cy="1371600"/>
          </a:xfrm>
          <a:prstGeom prst="ellipse">
            <a:avLst/>
          </a:prstGeom>
          <a:solidFill>
            <a:srgbClr val="D963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548640" y="502920"/>
            <a:ext cx="128016" cy="777240"/>
          </a:xfrm>
          <a:prstGeom prst="rect">
            <a:avLst/>
          </a:prstGeom>
          <a:solidFill>
            <a:srgbClr val="D963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822960" y="320040"/>
            <a:ext cx="106070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rgbClr val="2415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EDA: Class Balance Shapes the Metrics</a:t>
            </a:r>
            <a:endParaRPr lang="en-US" sz="2600" dirty="0"/>
          </a:p>
        </p:txBody>
      </p:sp>
      <p:graphicFrame>
        <p:nvGraphicFramePr>
          <p:cNvPr id="6" name="Chart 0"/>
          <p:cNvGraphicFramePr/>
          <p:nvPr/>
        </p:nvGraphicFramePr>
        <p:xfrm>
          <a:off x="640080" y="1828800"/>
          <a:ext cx="5120640" cy="38404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Shape 4"/>
          <p:cNvSpPr/>
          <p:nvPr/>
        </p:nvSpPr>
        <p:spPr>
          <a:xfrm>
            <a:off x="6126480" y="2011680"/>
            <a:ext cx="5486400" cy="3657600"/>
          </a:xfrm>
          <a:prstGeom prst="roundRect">
            <a:avLst>
              <a:gd name="adj" fmla="val 2250"/>
            </a:avLst>
          </a:prstGeom>
          <a:solidFill>
            <a:srgbClr val="F7F1EA"/>
          </a:solidFill>
          <a:ln/>
          <a:effectLst>
            <a:outerShdw blurRad="76200" dist="38100" dir="54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 txBox="1"/>
          <p:nvPr/>
        </p:nvSpPr>
        <p:spPr>
          <a:xfrm>
            <a:off x="6446520" y="2286000"/>
            <a:ext cx="484632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4000" indent="-254000">
              <a:spcAft>
                <a:spcPts val="1600"/>
              </a:spcAft>
              <a:buSzPct val="100000"/>
              <a:buChar char="▸"/>
            </a:pPr>
            <a:r>
              <a:rPr lang="en-US" sz="1400" dirty="0">
                <a:solidFill>
                  <a:srgbClr val="2415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Stanford Dogs is close to balanced (143–463/breed) → plain top-1/top-5 accuracy is trustworthy here</a:t>
            </a:r>
            <a:endParaRPr lang="en-US" sz="1400" dirty="0"/>
          </a:p>
          <a:p>
            <a:pPr marL="254000" indent="-254000">
              <a:spcAft>
                <a:spcPts val="1600"/>
              </a:spcAft>
              <a:buSzPct val="100000"/>
              <a:buChar char="▸"/>
            </a:pPr>
            <a:r>
              <a:rPr lang="en-US" sz="1400" dirty="0">
                <a:solidFill>
                  <a:srgbClr val="2415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PetFinder's matched subset skews heavily toward a few common breeds (Labrador Retriever, Shih-Tzu)</a:t>
            </a:r>
            <a:endParaRPr lang="en-US" sz="1400" dirty="0"/>
          </a:p>
          <a:p>
            <a:pPr marL="254000" indent="-254000">
              <a:spcAft>
                <a:spcPts val="1600"/>
              </a:spcAft>
              <a:buSzPct val="100000"/>
              <a:buChar char="▸"/>
            </a:pPr>
            <a:r>
              <a:rPr lang="en-US" sz="1400" dirty="0">
                <a:solidFill>
                  <a:srgbClr val="2415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macro-F1 used for PetFinder evaluation so common breeds can't hide poor performance on rare ones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11521440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607040" y="5394960"/>
            <a:ext cx="3291840" cy="3291840"/>
          </a:xfrm>
          <a:prstGeom prst="ellipse">
            <a:avLst/>
          </a:prstGeom>
          <a:solidFill>
            <a:srgbClr val="F7F1E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11612880" y="4572000"/>
            <a:ext cx="1371600" cy="1371600"/>
          </a:xfrm>
          <a:prstGeom prst="ellipse">
            <a:avLst/>
          </a:prstGeom>
          <a:solidFill>
            <a:srgbClr val="D963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548640" y="502920"/>
            <a:ext cx="128016" cy="777240"/>
          </a:xfrm>
          <a:prstGeom prst="rect">
            <a:avLst/>
          </a:prstGeom>
          <a:solidFill>
            <a:srgbClr val="D963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822960" y="320040"/>
            <a:ext cx="106070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rgbClr val="2415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EDA: Two Very Different Kinds of Dog Photos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822960" y="1828800"/>
            <a:ext cx="5029200" cy="3840480"/>
          </a:xfrm>
          <a:prstGeom prst="roundRect">
            <a:avLst>
              <a:gd name="adj" fmla="val 2143"/>
            </a:avLst>
          </a:prstGeom>
          <a:solidFill>
            <a:srgbClr val="FFFFFF"/>
          </a:solidFill>
          <a:ln w="22225">
            <a:solidFill>
              <a:srgbClr val="D9633B"/>
            </a:solidFill>
            <a:prstDash val="solid"/>
          </a:ln>
          <a:effectLst>
            <a:outerShdw blurRad="76200" dist="38100" dir="54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822960" y="1828800"/>
            <a:ext cx="5029200" cy="594360"/>
          </a:xfrm>
          <a:prstGeom prst="rect">
            <a:avLst/>
          </a:prstGeom>
          <a:solidFill>
            <a:srgbClr val="D963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 txBox="1"/>
          <p:nvPr/>
        </p:nvSpPr>
        <p:spPr>
          <a:xfrm>
            <a:off x="1097280" y="1828800"/>
            <a:ext cx="4480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Stanford Dogs</a:t>
            </a:r>
            <a:endParaRPr lang="en-US" sz="1900" dirty="0"/>
          </a:p>
        </p:txBody>
      </p:sp>
      <p:sp>
        <p:nvSpPr>
          <p:cNvPr id="9" name="Text 7"/>
          <p:cNvSpPr txBox="1"/>
          <p:nvPr/>
        </p:nvSpPr>
        <p:spPr>
          <a:xfrm>
            <a:off x="1097280" y="2542032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B5C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data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1097280" y="3063240"/>
            <a:ext cx="44805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4000" indent="-254000">
              <a:spcAft>
                <a:spcPts val="1400"/>
              </a:spcAft>
              <a:buSzPct val="100000"/>
              <a:buChar char="▸"/>
            </a:pPr>
            <a:r>
              <a:rPr lang="en-US" sz="1450" dirty="0">
                <a:solidFill>
                  <a:srgbClr val="2415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Staged, posed photos</a:t>
            </a:r>
            <a:endParaRPr lang="en-US" sz="1450" dirty="0"/>
          </a:p>
          <a:p>
            <a:pPr marL="254000" indent="-254000">
              <a:spcAft>
                <a:spcPts val="1400"/>
              </a:spcAft>
              <a:buSzPct val="100000"/>
              <a:buChar char="▸"/>
            </a:pPr>
            <a:r>
              <a:rPr lang="en-US" sz="1450" dirty="0">
                <a:solidFill>
                  <a:srgbClr val="2415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backgrounds</a:t>
            </a:r>
            <a:endParaRPr lang="en-US" sz="1450" dirty="0"/>
          </a:p>
          <a:p>
            <a:pPr marL="254000" indent="-254000">
              <a:spcAft>
                <a:spcPts val="1400"/>
              </a:spcAft>
              <a:buSzPct val="100000"/>
              <a:buChar char="▸"/>
            </a:pPr>
            <a:r>
              <a:rPr lang="en-US" sz="1450" dirty="0">
                <a:solidFill>
                  <a:srgbClr val="2415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Consistent lighting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6309360" y="1828800"/>
            <a:ext cx="5029200" cy="3840480"/>
          </a:xfrm>
          <a:prstGeom prst="roundRect">
            <a:avLst>
              <a:gd name="adj" fmla="val 2143"/>
            </a:avLst>
          </a:prstGeom>
          <a:solidFill>
            <a:srgbClr val="FFFFFF"/>
          </a:solidFill>
          <a:ln w="22225">
            <a:solidFill>
              <a:srgbClr val="6E8F73"/>
            </a:solidFill>
            <a:prstDash val="solid"/>
          </a:ln>
          <a:effectLst>
            <a:outerShdw blurRad="76200" dist="38100" dir="54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6309360" y="1828800"/>
            <a:ext cx="5029200" cy="594360"/>
          </a:xfrm>
          <a:prstGeom prst="rect">
            <a:avLst/>
          </a:prstGeom>
          <a:solidFill>
            <a:srgbClr val="6E8F7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 txBox="1"/>
          <p:nvPr/>
        </p:nvSpPr>
        <p:spPr>
          <a:xfrm>
            <a:off x="6583680" y="1828800"/>
            <a:ext cx="4480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PetFinder.my</a:t>
            </a:r>
            <a:endParaRPr lang="en-US" sz="1900" dirty="0"/>
          </a:p>
        </p:txBody>
      </p:sp>
      <p:sp>
        <p:nvSpPr>
          <p:cNvPr id="14" name="Text 12"/>
          <p:cNvSpPr txBox="1"/>
          <p:nvPr/>
        </p:nvSpPr>
        <p:spPr>
          <a:xfrm>
            <a:off x="6583680" y="2542032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B5C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Real-world validation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6583680" y="3063240"/>
            <a:ext cx="44805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4000" indent="-254000">
              <a:spcAft>
                <a:spcPts val="1400"/>
              </a:spcAft>
              <a:buSzPct val="100000"/>
              <a:buChar char="▸"/>
            </a:pPr>
            <a:r>
              <a:rPr lang="en-US" sz="1450" dirty="0">
                <a:solidFill>
                  <a:srgbClr val="2415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shelter/rescue photos</a:t>
            </a:r>
            <a:endParaRPr lang="en-US" sz="1450" dirty="0"/>
          </a:p>
          <a:p>
            <a:pPr marL="254000" indent="-254000">
              <a:spcAft>
                <a:spcPts val="1400"/>
              </a:spcAft>
              <a:buSzPct val="100000"/>
              <a:buChar char="▸"/>
            </a:pPr>
            <a:r>
              <a:rPr lang="en-US" sz="1450" dirty="0">
                <a:solidFill>
                  <a:srgbClr val="2415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Cluttered, variable backgrounds</a:t>
            </a:r>
            <a:endParaRPr lang="en-US" sz="1450" dirty="0"/>
          </a:p>
          <a:p>
            <a:pPr marL="254000" indent="-254000">
              <a:spcAft>
                <a:spcPts val="1400"/>
              </a:spcAft>
              <a:buSzPct val="100000"/>
              <a:buChar char="▸"/>
            </a:pPr>
            <a:r>
              <a:rPr lang="en-US" sz="1450" dirty="0">
                <a:solidFill>
                  <a:srgbClr val="2415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Inconsistent lighting &amp; angles</a:t>
            </a:r>
            <a:endParaRPr lang="en-US" sz="1450" dirty="0"/>
          </a:p>
        </p:txBody>
      </p:sp>
      <p:sp>
        <p:nvSpPr>
          <p:cNvPr id="16" name="Text 14"/>
          <p:cNvSpPr txBox="1"/>
          <p:nvPr/>
        </p:nvSpPr>
        <p:spPr>
          <a:xfrm>
            <a:off x="11521440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607040" y="5394960"/>
            <a:ext cx="3291840" cy="3291840"/>
          </a:xfrm>
          <a:prstGeom prst="ellipse">
            <a:avLst/>
          </a:prstGeom>
          <a:solidFill>
            <a:srgbClr val="F7F1E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11612880" y="4572000"/>
            <a:ext cx="1371600" cy="1371600"/>
          </a:xfrm>
          <a:prstGeom prst="ellipse">
            <a:avLst/>
          </a:prstGeom>
          <a:solidFill>
            <a:srgbClr val="D963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548640" y="502920"/>
            <a:ext cx="128016" cy="777240"/>
          </a:xfrm>
          <a:prstGeom prst="rect">
            <a:avLst/>
          </a:prstGeom>
          <a:solidFill>
            <a:srgbClr val="D963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822960" y="320040"/>
            <a:ext cx="106070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rgbClr val="2415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EDA: Real Shelter Stakes from Austin Animal Center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1005840" y="1965960"/>
            <a:ext cx="2743200" cy="2743200"/>
          </a:xfrm>
          <a:prstGeom prst="ellipse">
            <a:avLst/>
          </a:prstGeom>
          <a:solidFill>
            <a:srgbClr val="D963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 txBox="1"/>
          <p:nvPr/>
        </p:nvSpPr>
        <p:spPr>
          <a:xfrm>
            <a:off x="1005840" y="1965960"/>
            <a:ext cx="27432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76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17.4%</a:t>
            </a:r>
            <a:endParaRPr lang="en-US" sz="576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461772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6B5C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all dog outcomes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0" y="2194560"/>
            <a:ext cx="6858000" cy="3200400"/>
          </a:xfrm>
          <a:prstGeom prst="roundRect">
            <a:avLst>
              <a:gd name="adj" fmla="val 2571"/>
            </a:avLst>
          </a:prstGeom>
          <a:solidFill>
            <a:srgbClr val="F7F1EA"/>
          </a:solidFill>
          <a:ln/>
          <a:effectLst>
            <a:outerShdw blurRad="76200" dist="38100" dir="54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 txBox="1"/>
          <p:nvPr/>
        </p:nvSpPr>
        <p:spPr>
          <a:xfrm>
            <a:off x="4892040" y="2468880"/>
            <a:ext cx="62179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4000" indent="-254000">
              <a:spcAft>
                <a:spcPts val="1600"/>
              </a:spcAft>
              <a:buSzPct val="100000"/>
              <a:buChar char="▸"/>
            </a:pPr>
            <a:r>
              <a:rPr lang="en-US" sz="1500" dirty="0">
                <a:solidFill>
                  <a:srgbClr val="2415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17.4% of Austin Animal Center's dog outcomes are labeled some variant of “Pit Bull”</a:t>
            </a:r>
            <a:endParaRPr lang="en-US" sz="1500" dirty="0"/>
          </a:p>
          <a:p>
            <a:pPr marL="254000" indent="-254000">
              <a:spcAft>
                <a:spcPts val="1600"/>
              </a:spcAft>
              <a:buSzPct val="100000"/>
              <a:buChar char="▸"/>
            </a:pPr>
            <a:r>
              <a:rPr lang="en-US" sz="1500" dirty="0">
                <a:solidFill>
                  <a:srgbClr val="2415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one label touches a huge share of real shelter dogs — the stakes of breed labeling are not hypothetical</a:t>
            </a:r>
            <a:endParaRPr lang="en-US" sz="1500" dirty="0"/>
          </a:p>
          <a:p>
            <a:pPr marL="254000" indent="-254000">
              <a:spcAft>
                <a:spcPts val="1600"/>
              </a:spcAft>
              <a:buSzPct val="100000"/>
              <a:buChar char="▸"/>
            </a:pPr>
            <a:r>
              <a:rPr lang="en-US" sz="1500" dirty="0">
                <a:solidFill>
                  <a:srgbClr val="2415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Austin's data has no photos, so it's used here for real-world framing, not as training data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11521440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607040" y="5394960"/>
            <a:ext cx="3291840" cy="3291840"/>
          </a:xfrm>
          <a:prstGeom prst="ellipse">
            <a:avLst/>
          </a:prstGeom>
          <a:solidFill>
            <a:srgbClr val="F7F1E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11612880" y="4572000"/>
            <a:ext cx="1371600" cy="1371600"/>
          </a:xfrm>
          <a:prstGeom prst="ellipse">
            <a:avLst/>
          </a:prstGeom>
          <a:solidFill>
            <a:srgbClr val="D963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548640" y="502920"/>
            <a:ext cx="128016" cy="777240"/>
          </a:xfrm>
          <a:prstGeom prst="rect">
            <a:avLst/>
          </a:prstGeom>
          <a:solidFill>
            <a:srgbClr val="D963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822960" y="320040"/>
            <a:ext cx="106070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rgbClr val="2415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Modeling: Isolating What Fine-Tuning Buys You</a:t>
            </a:r>
            <a:endParaRPr 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1691640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D96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MobileNetV2 (ImageNet-pretrained, Hugging Face Model Hub) via transfer learning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914400" y="2514600"/>
            <a:ext cx="914400" cy="914400"/>
          </a:xfrm>
          <a:prstGeom prst="ellipse">
            <a:avLst/>
          </a:prstGeom>
          <a:solidFill>
            <a:srgbClr val="D963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 txBox="1"/>
          <p:nvPr/>
        </p:nvSpPr>
        <p:spPr>
          <a:xfrm>
            <a:off x="914400" y="251460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</a:t>
            </a:r>
            <a:endParaRPr lang="en-US" sz="4000" dirty="0"/>
          </a:p>
        </p:txBody>
      </p:sp>
      <p:sp>
        <p:nvSpPr>
          <p:cNvPr id="9" name="Text 7"/>
          <p:cNvSpPr txBox="1"/>
          <p:nvPr/>
        </p:nvSpPr>
        <p:spPr>
          <a:xfrm>
            <a:off x="411480" y="356616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415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Frozen backbone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411480" y="406908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B5C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classifier head trained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2766060" y="2651760"/>
            <a:ext cx="777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6E8F7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→</a:t>
            </a:r>
            <a:endParaRPr lang="en-US" sz="2600" dirty="0"/>
          </a:p>
        </p:txBody>
      </p:sp>
      <p:sp>
        <p:nvSpPr>
          <p:cNvPr id="12" name="Shape 10"/>
          <p:cNvSpPr/>
          <p:nvPr/>
        </p:nvSpPr>
        <p:spPr>
          <a:xfrm>
            <a:off x="4480560" y="2514600"/>
            <a:ext cx="914400" cy="914400"/>
          </a:xfrm>
          <a:prstGeom prst="ellipse">
            <a:avLst/>
          </a:prstGeom>
          <a:solidFill>
            <a:srgbClr val="D963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 txBox="1"/>
          <p:nvPr/>
        </p:nvSpPr>
        <p:spPr>
          <a:xfrm>
            <a:off x="4480560" y="251460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</a:t>
            </a:r>
            <a:endParaRPr lang="en-US" sz="4000" dirty="0"/>
          </a:p>
        </p:txBody>
      </p:sp>
      <p:sp>
        <p:nvSpPr>
          <p:cNvPr id="14" name="Text 12"/>
          <p:cNvSpPr txBox="1"/>
          <p:nvPr/>
        </p:nvSpPr>
        <p:spPr>
          <a:xfrm>
            <a:off x="3977640" y="356616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415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Last 3 blocks unfrozen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3977640" y="406908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B5C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Partial backbone adaptation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6332220" y="2651760"/>
            <a:ext cx="777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6E8F7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→</a:t>
            </a:r>
            <a:endParaRPr lang="en-US" sz="2600" dirty="0"/>
          </a:p>
        </p:txBody>
      </p:sp>
      <p:sp>
        <p:nvSpPr>
          <p:cNvPr id="17" name="Shape 15"/>
          <p:cNvSpPr/>
          <p:nvPr/>
        </p:nvSpPr>
        <p:spPr>
          <a:xfrm>
            <a:off x="8046720" y="2514600"/>
            <a:ext cx="914400" cy="914400"/>
          </a:xfrm>
          <a:prstGeom prst="ellipse">
            <a:avLst/>
          </a:prstGeom>
          <a:solidFill>
            <a:srgbClr val="D963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 txBox="1"/>
          <p:nvPr/>
        </p:nvSpPr>
        <p:spPr>
          <a:xfrm>
            <a:off x="8046720" y="251460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</a:t>
            </a:r>
            <a:endParaRPr lang="en-US" sz="4000" dirty="0"/>
          </a:p>
        </p:txBody>
      </p:sp>
      <p:sp>
        <p:nvSpPr>
          <p:cNvPr id="19" name="Text 17"/>
          <p:cNvSpPr txBox="1"/>
          <p:nvPr/>
        </p:nvSpPr>
        <p:spPr>
          <a:xfrm>
            <a:off x="7543800" y="356616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415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Fully unfrozen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7543800" y="406908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B5C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Entire network fine-tuned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822960" y="5029200"/>
            <a:ext cx="10515600" cy="1005840"/>
          </a:xfrm>
          <a:prstGeom prst="roundRect">
            <a:avLst>
              <a:gd name="adj" fmla="val 8182"/>
            </a:avLst>
          </a:prstGeom>
          <a:solidFill>
            <a:srgbClr val="F7F1EA"/>
          </a:solidFill>
          <a:ln/>
          <a:effectLst>
            <a:outerShdw blurRad="76200" dist="38100" dir="54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 txBox="1"/>
          <p:nvPr/>
        </p:nvSpPr>
        <p:spPr>
          <a:xfrm>
            <a:off x="1097280" y="5257800"/>
            <a:ext cx="9966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2415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checkpoint, same data, same epochs — the only variable is how much of the backbone can adapt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11521440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607040" y="5394960"/>
            <a:ext cx="3291840" cy="3291840"/>
          </a:xfrm>
          <a:prstGeom prst="ellipse">
            <a:avLst/>
          </a:prstGeom>
          <a:solidFill>
            <a:srgbClr val="F2E4D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11612880" y="4572000"/>
            <a:ext cx="1371600" cy="1371600"/>
          </a:xfrm>
          <a:prstGeom prst="ellipse">
            <a:avLst/>
          </a:prstGeom>
          <a:solidFill>
            <a:srgbClr val="D963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548640" y="502920"/>
            <a:ext cx="128016" cy="777240"/>
          </a:xfrm>
          <a:prstGeom prst="rect">
            <a:avLst/>
          </a:prstGeom>
          <a:solidFill>
            <a:srgbClr val="D963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822960" y="320040"/>
            <a:ext cx="106070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rgbClr val="2415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More Fine-Tuning Freedom, Better Performance — Every Time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1737360" y="1783080"/>
            <a:ext cx="8686800" cy="4709160"/>
          </a:xfrm>
          <a:prstGeom prst="roundRect">
            <a:avLst>
              <a:gd name="adj" fmla="val 1748"/>
            </a:avLst>
          </a:prstGeom>
          <a:solidFill>
            <a:srgbClr val="F7F1EA"/>
          </a:solidFill>
          <a:ln/>
          <a:effectLst>
            <a:outerShdw blurRad="76200" dist="38100" dir="54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7" name="Image 0" descr="images/fig1_model_comparis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65960" y="1920240"/>
            <a:ext cx="8229600" cy="320040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1521440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607040" y="5394960"/>
            <a:ext cx="3291840" cy="3291840"/>
          </a:xfrm>
          <a:prstGeom prst="ellipse">
            <a:avLst/>
          </a:prstGeom>
          <a:solidFill>
            <a:srgbClr val="F2E4D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11612880" y="4572000"/>
            <a:ext cx="1371600" cy="1371600"/>
          </a:xfrm>
          <a:prstGeom prst="ellipse">
            <a:avLst/>
          </a:prstGeom>
          <a:solidFill>
            <a:srgbClr val="D963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548640" y="502920"/>
            <a:ext cx="128016" cy="777240"/>
          </a:xfrm>
          <a:prstGeom prst="rect">
            <a:avLst/>
          </a:prstGeom>
          <a:solidFill>
            <a:srgbClr val="D963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822960" y="320040"/>
            <a:ext cx="106070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rgbClr val="2415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Finding: The Model Learned “Curly Coat = Poodle”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2423160" y="1554480"/>
            <a:ext cx="7315200" cy="5166360"/>
          </a:xfrm>
          <a:prstGeom prst="roundRect">
            <a:avLst>
              <a:gd name="adj" fmla="val 1593"/>
            </a:avLst>
          </a:prstGeom>
          <a:solidFill>
            <a:srgbClr val="F7F1EA"/>
          </a:solidFill>
          <a:ln/>
          <a:effectLst>
            <a:outerShdw blurRad="76200" dist="38100" dir="54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7" name="Image 0" descr="images/fig2_top_confusion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51760" y="1691640"/>
            <a:ext cx="6858000" cy="457200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640080" y="6355080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i="1" dirty="0">
                <a:solidFill>
                  <a:srgbClr val="6B5C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of the top 15 misclassifications funnel into “Poodle” — all curly/wavy-coated breeds</a:t>
            </a:r>
            <a:endParaRPr lang="en-US" sz="1250" dirty="0"/>
          </a:p>
        </p:txBody>
      </p:sp>
      <p:sp>
        <p:nvSpPr>
          <p:cNvPr id="9" name="Text 6"/>
          <p:cNvSpPr txBox="1"/>
          <p:nvPr/>
        </p:nvSpPr>
        <p:spPr>
          <a:xfrm>
            <a:off x="11521440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607040" y="5394960"/>
            <a:ext cx="3291840" cy="3291840"/>
          </a:xfrm>
          <a:prstGeom prst="ellipse">
            <a:avLst/>
          </a:prstGeom>
          <a:solidFill>
            <a:srgbClr val="F2E4D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11612880" y="4572000"/>
            <a:ext cx="1371600" cy="1371600"/>
          </a:xfrm>
          <a:prstGeom prst="ellipse">
            <a:avLst/>
          </a:prstGeom>
          <a:solidFill>
            <a:srgbClr val="D963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548640" y="502920"/>
            <a:ext cx="128016" cy="777240"/>
          </a:xfrm>
          <a:prstGeom prst="rect">
            <a:avLst/>
          </a:prstGeom>
          <a:solidFill>
            <a:srgbClr val="D963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822960" y="320040"/>
            <a:ext cx="106070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rgbClr val="2415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Finding: A Real-World Generalization Gap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017520" y="1600200"/>
            <a:ext cx="6126480" cy="4114800"/>
          </a:xfrm>
          <a:prstGeom prst="roundRect">
            <a:avLst>
              <a:gd name="adj" fmla="val 2000"/>
            </a:avLst>
          </a:prstGeom>
          <a:solidFill>
            <a:srgbClr val="F7F1EA"/>
          </a:solidFill>
          <a:ln/>
          <a:effectLst>
            <a:outerShdw blurRad="76200" dist="38100" dir="54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7" name="Image 0" descr="images/fig3_domain_shif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46120" y="1737360"/>
            <a:ext cx="5669280" cy="4049486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640080" y="5623560"/>
            <a:ext cx="10881360" cy="1051560"/>
          </a:xfrm>
          <a:prstGeom prst="roundRect">
            <a:avLst>
              <a:gd name="adj" fmla="val 7826"/>
            </a:avLst>
          </a:prstGeom>
          <a:solidFill>
            <a:srgbClr val="F7F1EA"/>
          </a:solidFill>
          <a:ln/>
          <a:effectLst>
            <a:outerShdw blurRad="76200" dist="38100" dir="54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 txBox="1"/>
          <p:nvPr/>
        </p:nvSpPr>
        <p:spPr>
          <a:xfrm>
            <a:off x="960120" y="5806440"/>
            <a:ext cx="10241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54000" indent="-254000">
              <a:spcAft>
                <a:spcPts val="1200"/>
              </a:spcAft>
              <a:buSzPct val="100000"/>
              <a:buChar char="▸"/>
            </a:pPr>
            <a:r>
              <a:rPr lang="en-US" sz="1350" dirty="0">
                <a:solidFill>
                  <a:srgbClr val="2415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Macro-F1 drops 86% (staged → real) — far steeper than the 48% drop in top-1 accuracy: strong on common breeds, weak on rare ones</a:t>
            </a:r>
            <a:endParaRPr lang="en-US" sz="1350" dirty="0"/>
          </a:p>
        </p:txBody>
      </p:sp>
      <p:sp>
        <p:nvSpPr>
          <p:cNvPr id="10" name="Text 7"/>
          <p:cNvSpPr txBox="1"/>
          <p:nvPr/>
        </p:nvSpPr>
        <p:spPr>
          <a:xfrm>
            <a:off x="11521440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607040" y="5394960"/>
            <a:ext cx="3291840" cy="3291840"/>
          </a:xfrm>
          <a:prstGeom prst="ellipse">
            <a:avLst/>
          </a:prstGeom>
          <a:solidFill>
            <a:srgbClr val="F7F1E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11612880" y="4572000"/>
            <a:ext cx="1371600" cy="1371600"/>
          </a:xfrm>
          <a:prstGeom prst="ellipse">
            <a:avLst/>
          </a:prstGeom>
          <a:solidFill>
            <a:srgbClr val="D963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548640" y="502920"/>
            <a:ext cx="128016" cy="777240"/>
          </a:xfrm>
          <a:prstGeom prst="rect">
            <a:avLst/>
          </a:prstGeom>
          <a:solidFill>
            <a:srgbClr val="D963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822960" y="320040"/>
            <a:ext cx="106070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rgbClr val="2415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Recommendations for a Shelter Client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640080" y="1828800"/>
            <a:ext cx="10881360" cy="1234440"/>
          </a:xfrm>
          <a:prstGeom prst="roundRect">
            <a:avLst>
              <a:gd name="adj" fmla="val 6667"/>
            </a:avLst>
          </a:prstGeom>
          <a:solidFill>
            <a:srgbClr val="F7F1EA"/>
          </a:solidFill>
          <a:ln/>
          <a:effectLst>
            <a:outerShdw blurRad="76200" dist="38100" dir="54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914400" y="2084832"/>
            <a:ext cx="731520" cy="731520"/>
          </a:xfrm>
          <a:prstGeom prst="ellipse">
            <a:avLst/>
          </a:prstGeom>
          <a:solidFill>
            <a:srgbClr val="D963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 txBox="1"/>
          <p:nvPr/>
        </p:nvSpPr>
        <p:spPr>
          <a:xfrm>
            <a:off x="914400" y="2084832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3200" dirty="0"/>
          </a:p>
        </p:txBody>
      </p:sp>
      <p:sp>
        <p:nvSpPr>
          <p:cNvPr id="9" name="Text 7"/>
          <p:cNvSpPr txBox="1"/>
          <p:nvPr/>
        </p:nvSpPr>
        <p:spPr>
          <a:xfrm>
            <a:off x="1920240" y="1965960"/>
            <a:ext cx="9326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415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Use as a second-opinion flag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1920240" y="2395728"/>
            <a:ext cx="9326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6B5C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 replacement — flag listings where the model and staff disagree for a second look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640080" y="3291840"/>
            <a:ext cx="10881360" cy="1234440"/>
          </a:xfrm>
          <a:prstGeom prst="roundRect">
            <a:avLst>
              <a:gd name="adj" fmla="val 6667"/>
            </a:avLst>
          </a:prstGeom>
          <a:solidFill>
            <a:srgbClr val="F7F1EA"/>
          </a:solidFill>
          <a:ln/>
          <a:effectLst>
            <a:outerShdw blurRad="76200" dist="38100" dir="54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914400" y="3547872"/>
            <a:ext cx="731520" cy="731520"/>
          </a:xfrm>
          <a:prstGeom prst="ellipse">
            <a:avLst/>
          </a:prstGeom>
          <a:solidFill>
            <a:srgbClr val="D963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 txBox="1"/>
          <p:nvPr/>
        </p:nvSpPr>
        <p:spPr>
          <a:xfrm>
            <a:off x="914400" y="3547872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3200" dirty="0"/>
          </a:p>
        </p:txBody>
      </p:sp>
      <p:sp>
        <p:nvSpPr>
          <p:cNvPr id="14" name="Text 12"/>
          <p:cNvSpPr txBox="1"/>
          <p:nvPr/>
        </p:nvSpPr>
        <p:spPr>
          <a:xfrm>
            <a:off x="1920240" y="3429000"/>
            <a:ext cx="9326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415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Prioritize more training first</a:t>
            </a:r>
            <a:endParaRPr lang="en-US" sz="1700" dirty="0"/>
          </a:p>
        </p:txBody>
      </p:sp>
      <p:sp>
        <p:nvSpPr>
          <p:cNvPr id="15" name="Text 13"/>
          <p:cNvSpPr txBox="1"/>
          <p:nvPr/>
        </p:nvSpPr>
        <p:spPr>
          <a:xfrm>
            <a:off x="1920240" y="3858768"/>
            <a:ext cx="9326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6B5C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added fine-tuning depth improved results with no plateau — more epochs is the fastest path forward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640080" y="4754880"/>
            <a:ext cx="10881360" cy="1234440"/>
          </a:xfrm>
          <a:prstGeom prst="roundRect">
            <a:avLst>
              <a:gd name="adj" fmla="val 6667"/>
            </a:avLst>
          </a:prstGeom>
          <a:solidFill>
            <a:srgbClr val="F7F1EA"/>
          </a:solidFill>
          <a:ln/>
          <a:effectLst>
            <a:outerShdw blurRad="76200" dist="38100" dir="54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914400" y="5010912"/>
            <a:ext cx="731520" cy="731520"/>
          </a:xfrm>
          <a:prstGeom prst="ellipse">
            <a:avLst/>
          </a:prstGeom>
          <a:solidFill>
            <a:srgbClr val="D963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 txBox="1"/>
          <p:nvPr/>
        </p:nvSpPr>
        <p:spPr>
          <a:xfrm>
            <a:off x="914400" y="5010912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3200" dirty="0"/>
          </a:p>
        </p:txBody>
      </p:sp>
      <p:sp>
        <p:nvSpPr>
          <p:cNvPr id="19" name="Text 17"/>
          <p:cNvSpPr txBox="1"/>
          <p:nvPr/>
        </p:nvSpPr>
        <p:spPr>
          <a:xfrm>
            <a:off x="1920240" y="4892040"/>
            <a:ext cx="9326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415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Trust top-5, not top-1, for now</a:t>
            </a:r>
            <a:endParaRPr lang="en-US" sz="1700" dirty="0"/>
          </a:p>
        </p:txBody>
      </p:sp>
      <p:sp>
        <p:nvSpPr>
          <p:cNvPr id="20" name="Text 18"/>
          <p:cNvSpPr txBox="1"/>
          <p:nvPr/>
        </p:nvSpPr>
        <p:spPr>
          <a:xfrm>
            <a:off x="1920240" y="5321808"/>
            <a:ext cx="9326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6B5C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73.8% top-5, the correct breed is usually in the shortlist even when it isn't the top guess</a:t>
            </a:r>
            <a:endParaRPr lang="en-US" sz="1350" dirty="0"/>
          </a:p>
        </p:txBody>
      </p:sp>
      <p:sp>
        <p:nvSpPr>
          <p:cNvPr id="21" name="Text 19"/>
          <p:cNvSpPr txBox="1"/>
          <p:nvPr/>
        </p:nvSpPr>
        <p:spPr>
          <a:xfrm>
            <a:off x="11521440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607040" y="5394960"/>
            <a:ext cx="3291840" cy="3291840"/>
          </a:xfrm>
          <a:prstGeom prst="ellipse">
            <a:avLst/>
          </a:prstGeom>
          <a:solidFill>
            <a:srgbClr val="F7F1E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11612880" y="4572000"/>
            <a:ext cx="1371600" cy="1371600"/>
          </a:xfrm>
          <a:prstGeom prst="ellipse">
            <a:avLst/>
          </a:prstGeom>
          <a:solidFill>
            <a:srgbClr val="D963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548640" y="502920"/>
            <a:ext cx="128016" cy="777240"/>
          </a:xfrm>
          <a:prstGeom prst="rect">
            <a:avLst/>
          </a:prstGeom>
          <a:solidFill>
            <a:srgbClr val="D963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822960" y="320040"/>
            <a:ext cx="106070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rgbClr val="2415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Limitations &amp; Future Work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640080" y="1828800"/>
            <a:ext cx="10881360" cy="4023360"/>
          </a:xfrm>
          <a:prstGeom prst="roundRect">
            <a:avLst>
              <a:gd name="adj" fmla="val 2045"/>
            </a:avLst>
          </a:prstGeom>
          <a:solidFill>
            <a:srgbClr val="F7F1EA"/>
          </a:solidFill>
          <a:ln/>
          <a:effectLst>
            <a:outerShdw blurRad="76200" dist="38100" dir="54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 txBox="1"/>
          <p:nvPr/>
        </p:nvSpPr>
        <p:spPr>
          <a:xfrm>
            <a:off x="1005840" y="2148840"/>
            <a:ext cx="1014984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4000" indent="-254000">
              <a:spcAft>
                <a:spcPts val="1800"/>
              </a:spcAft>
              <a:buSzPct val="100000"/>
              <a:buChar char="▸"/>
            </a:pPr>
            <a:r>
              <a:rPr lang="en-US" sz="1700" dirty="0">
                <a:solidFill>
                  <a:srgbClr val="2415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3 training epochs on CPU hardware — no plateau seen yet, so more epochs is the clearest next step</a:t>
            </a:r>
            <a:endParaRPr lang="en-US" sz="1700" dirty="0"/>
          </a:p>
          <a:p>
            <a:pPr marL="254000" indent="-254000">
              <a:spcAft>
                <a:spcPts val="1800"/>
              </a:spcAft>
              <a:buSzPct val="100000"/>
              <a:buChar char="▸"/>
            </a:pPr>
            <a:r>
              <a:rPr lang="en-US" sz="1700" dirty="0">
                <a:solidFill>
                  <a:srgbClr val="2415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Coat-texture shortcut (Poodle bias) suggests targeted data augmentation could help the model learn finer distinguishing features</a:t>
            </a:r>
            <a:endParaRPr lang="en-US" sz="1700" dirty="0"/>
          </a:p>
          <a:p>
            <a:pPr marL="254000" indent="-254000">
              <a:spcAft>
                <a:spcPts val="1800"/>
              </a:spcAft>
              <a:buSzPct val="100000"/>
              <a:buChar char="▸"/>
            </a:pPr>
            <a:r>
              <a:rPr lang="en-US" sz="1700" dirty="0">
                <a:solidFill>
                  <a:srgbClr val="2415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Class-weighted loss or oversampling of rare breeds could directly address the real-world macro-F1 gap</a:t>
            </a:r>
            <a:endParaRPr lang="en-US" sz="1700" dirty="0"/>
          </a:p>
          <a:p>
            <a:pPr marL="254000" indent="-254000">
              <a:spcAft>
                <a:spcPts val="1800"/>
              </a:spcAft>
              <a:buSzPct val="100000"/>
              <a:buChar char="▸"/>
            </a:pPr>
            <a:r>
              <a:rPr lang="en-US" sz="1700" dirty="0">
                <a:solidFill>
                  <a:srgbClr val="2415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DNA-verified ground truth exists for any breed label used — results describe agreement with human labels, not biological accuracy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11521440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2415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4114800"/>
            <a:ext cx="5486400" cy="5486400"/>
          </a:xfrm>
          <a:prstGeom prst="ellipse">
            <a:avLst/>
          </a:prstGeom>
          <a:solidFill>
            <a:srgbClr val="2E1D1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-365760" y="5120640"/>
            <a:ext cx="2011680" cy="2011680"/>
          </a:xfrm>
          <a:prstGeom prst="ellipse">
            <a:avLst/>
          </a:prstGeom>
          <a:solidFill>
            <a:srgbClr val="D963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822960" y="3429000"/>
            <a:ext cx="1188720" cy="82296"/>
          </a:xfrm>
          <a:prstGeom prst="rect">
            <a:avLst/>
          </a:prstGeom>
          <a:solidFill>
            <a:srgbClr val="D963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822960" y="2240280"/>
            <a:ext cx="7315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2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365760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E3C9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94</TotalTime>
  <Words>851</Words>
  <Application>Microsoft Office PowerPoint</Application>
  <PresentationFormat>Widescreen</PresentationFormat>
  <Paragraphs>136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0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Aro Roseman</cp:lastModifiedBy>
  <cp:revision>2</cp:revision>
  <dcterms:created xsi:type="dcterms:W3CDTF">2026-09-26T21:05:05Z</dcterms:created>
  <dcterms:modified xsi:type="dcterms:W3CDTF">2026-09-27T16:58:04Z</dcterms:modified>
</cp:coreProperties>
</file>